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154" y="-274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5858"/>
            <a:ext cx="5761990" cy="1770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algn="ctr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Calibri"/>
                <a:cs typeface="Calibri"/>
              </a:rPr>
              <a:t>SIMATS</a:t>
            </a:r>
            <a:r>
              <a:rPr sz="1100" b="1" spc="-10" dirty="0">
                <a:latin typeface="Calibri"/>
                <a:cs typeface="Calibri"/>
              </a:rPr>
              <a:t> ENGINEERING</a:t>
            </a:r>
            <a:endParaRPr sz="1100">
              <a:latin typeface="Calibri"/>
              <a:cs typeface="Calibri"/>
            </a:endParaRPr>
          </a:p>
          <a:p>
            <a:pPr marL="205104" algn="ctr">
              <a:lnSpc>
                <a:spcPct val="100000"/>
              </a:lnSpc>
              <a:spcBef>
                <a:spcPts val="1225"/>
              </a:spcBef>
            </a:pPr>
            <a:r>
              <a:rPr sz="1100" b="1" spc="-10" dirty="0">
                <a:latin typeface="Calibri"/>
                <a:cs typeface="Calibri"/>
              </a:rPr>
              <a:t>ASSESSMENT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TOOL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Analytical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Problem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Solving</a:t>
            </a:r>
            <a:endParaRPr sz="1100">
              <a:latin typeface="Calibri"/>
              <a:cs typeface="Calibri"/>
            </a:endParaRPr>
          </a:p>
          <a:p>
            <a:pPr marL="12700" marR="845819">
              <a:lnSpc>
                <a:spcPts val="2690"/>
              </a:lnSpc>
              <a:spcBef>
                <a:spcPts val="175"/>
              </a:spcBef>
              <a:tabLst>
                <a:tab pos="3637915" algn="l"/>
              </a:tabLst>
            </a:pPr>
            <a:r>
              <a:rPr sz="1100" b="1" dirty="0">
                <a:latin typeface="Calibri"/>
                <a:cs typeface="Calibri"/>
              </a:rPr>
              <a:t>COURSE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NAME: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COMPUTER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VISION</a:t>
            </a:r>
            <a:r>
              <a:rPr sz="1100" b="1" dirty="0">
                <a:latin typeface="Calibri"/>
                <a:cs typeface="Calibri"/>
              </a:rPr>
              <a:t>	COURSE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CODE:</a:t>
            </a:r>
            <a:r>
              <a:rPr sz="1100" b="1" spc="36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ITA05 </a:t>
            </a:r>
            <a:r>
              <a:rPr sz="1100" b="1" dirty="0">
                <a:latin typeface="Calibri"/>
                <a:cs typeface="Calibri"/>
              </a:rPr>
              <a:t>COURSE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OUTCOME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COVERED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15"/>
              </a:lnSpc>
            </a:pPr>
            <a:r>
              <a:rPr sz="1100" b="1" dirty="0">
                <a:latin typeface="Calibri"/>
                <a:cs typeface="Calibri"/>
              </a:rPr>
              <a:t>CO2: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Apply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image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enhancement </a:t>
            </a:r>
            <a:r>
              <a:rPr sz="1100" i="1" dirty="0">
                <a:latin typeface="Calibri"/>
                <a:cs typeface="Calibri"/>
              </a:rPr>
              <a:t>and </a:t>
            </a:r>
            <a:r>
              <a:rPr sz="1100" i="1" spc="-10" dirty="0">
                <a:latin typeface="Calibri"/>
                <a:cs typeface="Calibri"/>
              </a:rPr>
              <a:t>segmentation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techniques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extracting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meaningful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regions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from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i="1" dirty="0">
                <a:latin typeface="Calibri"/>
                <a:cs typeface="Calibri"/>
              </a:rPr>
              <a:t>images.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(BTL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3)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dirty="0">
                <a:latin typeface="Calibri"/>
                <a:cs typeface="Calibri"/>
              </a:rPr>
              <a:t>Assessment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Tool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Weightage: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50%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865500"/>
            <a:ext cx="84581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QUESTIONS:</a:t>
            </a:r>
            <a:r>
              <a:rPr sz="1100" b="1" spc="15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1389" y="2838677"/>
            <a:ext cx="1570355" cy="61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273685">
              <a:lnSpc>
                <a:spcPct val="116399"/>
              </a:lnSpc>
              <a:spcBef>
                <a:spcPts val="95"/>
              </a:spcBef>
            </a:pPr>
            <a:r>
              <a:rPr sz="1100" b="1" spc="-25" dirty="0">
                <a:latin typeface="Calibri"/>
                <a:cs typeface="Calibri"/>
              </a:rPr>
              <a:t>Total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Marks50 </a:t>
            </a:r>
            <a:r>
              <a:rPr sz="1100" b="1" dirty="0">
                <a:latin typeface="Calibri"/>
                <a:cs typeface="Calibri"/>
              </a:rPr>
              <a:t>Annexure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100" b="1" dirty="0">
                <a:latin typeface="Calibri"/>
                <a:cs typeface="Calibri"/>
              </a:rPr>
              <a:t>Analytical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Problem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Solving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2505" y="2865500"/>
            <a:ext cx="12604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Duration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:60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Minutes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3902201"/>
            <a:ext cx="5890895" cy="1574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i="1" dirty="0">
                <a:latin typeface="Calibri"/>
                <a:cs typeface="Calibri"/>
              </a:rPr>
              <a:t>Code</a:t>
            </a:r>
            <a:r>
              <a:rPr sz="1100" b="1" i="1" spc="-1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of</a:t>
            </a:r>
            <a:r>
              <a:rPr sz="1100" b="1" i="1" spc="-10" dirty="0">
                <a:latin typeface="Calibri"/>
                <a:cs typeface="Calibri"/>
              </a:rPr>
              <a:t> Conduct:</a:t>
            </a:r>
            <a:endParaRPr sz="1100" dirty="0">
              <a:latin typeface="Calibri"/>
              <a:cs typeface="Calibri"/>
            </a:endParaRPr>
          </a:p>
          <a:p>
            <a:pPr marL="12700" marR="5080">
              <a:lnSpc>
                <a:spcPct val="117300"/>
              </a:lnSpc>
              <a:spcBef>
                <a:spcPts val="995"/>
              </a:spcBef>
              <a:tabLst>
                <a:tab pos="1501775" algn="l"/>
              </a:tabLst>
            </a:pPr>
            <a:r>
              <a:rPr sz="1100" i="1" dirty="0">
                <a:latin typeface="Calibri"/>
                <a:cs typeface="Calibri"/>
              </a:rPr>
              <a:t>I </a:t>
            </a:r>
            <a:r>
              <a:rPr lang="en-IN" sz="1100" i="1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i="1" dirty="0">
                <a:latin typeface="Calibri"/>
                <a:cs typeface="Calibri"/>
              </a:rPr>
              <a:t>(Name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/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Reg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No)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certify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that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this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submission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is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my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original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work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that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I</a:t>
            </a:r>
            <a:r>
              <a:rPr sz="1100" i="1" dirty="0">
                <a:latin typeface="Calibri"/>
                <a:cs typeface="Calibri"/>
              </a:rPr>
              <a:t> have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adhered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the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guidelines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specified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this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assessment.I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understand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that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any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violation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academic </a:t>
            </a:r>
            <a:r>
              <a:rPr sz="1100" i="1" dirty="0">
                <a:latin typeface="Calibri"/>
                <a:cs typeface="Calibri"/>
              </a:rPr>
              <a:t>integrity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rules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will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result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disciplinary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action.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100" b="1" i="1" dirty="0">
                <a:latin typeface="Calibri"/>
                <a:cs typeface="Calibri"/>
              </a:rPr>
              <a:t>Signature</a:t>
            </a:r>
            <a:r>
              <a:rPr sz="1100" b="1" i="1" spc="-3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of</a:t>
            </a:r>
            <a:r>
              <a:rPr sz="1100" b="1" i="1" spc="-2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the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Calibri"/>
                <a:cs typeface="Calibri"/>
              </a:rPr>
              <a:t>student: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RUBRICS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CALCULATION:</a:t>
            </a:r>
            <a:endParaRPr sz="1100" dirty="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704" y="5625083"/>
          <a:ext cx="6523353" cy="34823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Criteria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1145"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Weightage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(Exemplary)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(Proficient)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035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(Developing)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613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(Beginning)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900" b="1" dirty="0">
                          <a:latin typeface="Calibri"/>
                          <a:cs typeface="Calibri"/>
                        </a:rPr>
                        <a:t>Marks</a:t>
                      </a:r>
                      <a:r>
                        <a:rPr sz="9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latin typeface="Calibri"/>
                          <a:cs typeface="Calibri"/>
                        </a:rPr>
                        <a:t>(100)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pPr marL="63500" marR="29019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Understanding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71755">
                        <a:lnSpc>
                          <a:spcPct val="101299"/>
                        </a:lnSpc>
                        <a:spcBef>
                          <a:spcPts val="5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Clearly</a:t>
                      </a:r>
                      <a:r>
                        <a:rPr sz="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problem,</a:t>
                      </a:r>
                      <a:r>
                        <a:rPr sz="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identifies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parameters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 and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accurately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02260">
                        <a:lnSpc>
                          <a:spcPct val="101299"/>
                        </a:lnSpc>
                        <a:spcBef>
                          <a:spcPts val="5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Understands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03835">
                        <a:lnSpc>
                          <a:spcPct val="101699"/>
                        </a:lnSpc>
                        <a:spcBef>
                          <a:spcPts val="500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Partial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understanding;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misses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elements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61925">
                        <a:lnSpc>
                          <a:spcPct val="101699"/>
                        </a:lnSpc>
                        <a:spcBef>
                          <a:spcPts val="500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Misinterprets</a:t>
                      </a:r>
                      <a:r>
                        <a:rPr sz="8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unable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problem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9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Selection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71120">
                        <a:lnSpc>
                          <a:spcPct val="101699"/>
                        </a:lnSpc>
                        <a:spcBef>
                          <a:spcPts val="5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Selects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most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appropriate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method/formula</a:t>
                      </a:r>
                      <a:r>
                        <a:rPr sz="800" b="1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strong</a:t>
                      </a:r>
                      <a:r>
                        <a:rPr sz="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justification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57175">
                        <a:lnSpc>
                          <a:spcPct val="101200"/>
                        </a:lnSpc>
                        <a:spcBef>
                          <a:spcPts val="509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Selects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49860" algn="just">
                        <a:lnSpc>
                          <a:spcPct val="101200"/>
                        </a:lnSpc>
                        <a:spcBef>
                          <a:spcPts val="509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Inappropriate</a:t>
                      </a:r>
                      <a:r>
                        <a:rPr sz="800" b="1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partially</a:t>
                      </a:r>
                      <a:r>
                        <a:rPr sz="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method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62560">
                        <a:lnSpc>
                          <a:spcPct val="102499"/>
                        </a:lnSpc>
                        <a:spcBef>
                          <a:spcPts val="50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Unable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select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method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Solution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Process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25%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90805">
                        <a:lnSpc>
                          <a:spcPct val="101299"/>
                        </a:lnSpc>
                        <a:spcBef>
                          <a:spcPts val="5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Logical,</a:t>
                      </a:r>
                      <a:r>
                        <a:rPr sz="8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systematic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approach</a:t>
                      </a:r>
                      <a:r>
                        <a:rPr sz="8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throughout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65100">
                        <a:lnSpc>
                          <a:spcPct val="101299"/>
                        </a:lnSpc>
                        <a:spcBef>
                          <a:spcPts val="5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Mostly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mistakes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26060">
                        <a:lnSpc>
                          <a:spcPct val="101299"/>
                        </a:lnSpc>
                        <a:spcBef>
                          <a:spcPts val="5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Disorganized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steps; multiple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 clear process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63500" marR="430530">
                        <a:lnSpc>
                          <a:spcPct val="102499"/>
                        </a:lnSpc>
                        <a:spcBef>
                          <a:spcPts val="49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Accuracy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78740">
                        <a:lnSpc>
                          <a:spcPct val="101200"/>
                        </a:lnSpc>
                        <a:spcBef>
                          <a:spcPts val="5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accurate;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answer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34620">
                        <a:lnSpc>
                          <a:spcPct val="102499"/>
                        </a:lnSpc>
                        <a:spcBef>
                          <a:spcPts val="49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57480">
                        <a:lnSpc>
                          <a:spcPct val="101200"/>
                        </a:lnSpc>
                        <a:spcBef>
                          <a:spcPts val="50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Frequent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errors;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incorrect</a:t>
                      </a:r>
                      <a:r>
                        <a:rPr sz="800" b="1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answer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49250">
                        <a:lnSpc>
                          <a:spcPct val="102499"/>
                        </a:lnSpc>
                        <a:spcBef>
                          <a:spcPts val="49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valid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63500" marR="211454">
                        <a:lnSpc>
                          <a:spcPct val="102499"/>
                        </a:lnSpc>
                        <a:spcBef>
                          <a:spcPts val="49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r>
                        <a:rPr sz="8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Results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15%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9690">
                        <a:lnSpc>
                          <a:spcPct val="101400"/>
                        </a:lnSpc>
                        <a:spcBef>
                          <a:spcPts val="5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Clearly</a:t>
                      </a:r>
                      <a:r>
                        <a:rPr sz="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results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units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relevance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70485">
                        <a:lnSpc>
                          <a:spcPct val="101400"/>
                        </a:lnSpc>
                        <a:spcBef>
                          <a:spcPts val="5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Basic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r>
                        <a:rPr sz="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omissions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82550">
                        <a:lnSpc>
                          <a:spcPct val="102499"/>
                        </a:lnSpc>
                        <a:spcBef>
                          <a:spcPts val="49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Limited</a:t>
                      </a:r>
                      <a:r>
                        <a:rPr sz="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unclear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914400" y="1875027"/>
            <a:ext cx="5746115" cy="26670"/>
          </a:xfrm>
          <a:custGeom>
            <a:avLst/>
            <a:gdLst/>
            <a:ahLst/>
            <a:cxnLst/>
            <a:rect l="l" t="t" r="r" b="b"/>
            <a:pathLst>
              <a:path w="5746115" h="26669">
                <a:moveTo>
                  <a:pt x="0" y="26670"/>
                </a:moveTo>
                <a:lnTo>
                  <a:pt x="5746115" y="26670"/>
                </a:lnTo>
                <a:lnTo>
                  <a:pt x="5746115" y="0"/>
                </a:lnTo>
                <a:lnTo>
                  <a:pt x="0" y="0"/>
                </a:lnTo>
                <a:lnTo>
                  <a:pt x="0" y="26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4400" y="2799460"/>
            <a:ext cx="6311900" cy="45085"/>
          </a:xfrm>
          <a:custGeom>
            <a:avLst/>
            <a:gdLst/>
            <a:ahLst/>
            <a:cxnLst/>
            <a:rect l="l" t="t" r="r" b="b"/>
            <a:pathLst>
              <a:path w="6311900" h="45085">
                <a:moveTo>
                  <a:pt x="0" y="45084"/>
                </a:moveTo>
                <a:lnTo>
                  <a:pt x="6311900" y="45084"/>
                </a:lnTo>
                <a:lnTo>
                  <a:pt x="6311900" y="0"/>
                </a:lnTo>
                <a:lnTo>
                  <a:pt x="0" y="0"/>
                </a:lnTo>
                <a:lnTo>
                  <a:pt x="0" y="45084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4400" y="3710940"/>
            <a:ext cx="6381750" cy="45085"/>
          </a:xfrm>
          <a:custGeom>
            <a:avLst/>
            <a:gdLst/>
            <a:ahLst/>
            <a:cxnLst/>
            <a:rect l="l" t="t" r="r" b="b"/>
            <a:pathLst>
              <a:path w="6381750" h="45085">
                <a:moveTo>
                  <a:pt x="0" y="45085"/>
                </a:moveTo>
                <a:lnTo>
                  <a:pt x="6381750" y="45085"/>
                </a:lnTo>
                <a:lnTo>
                  <a:pt x="6381750" y="0"/>
                </a:lnTo>
                <a:lnTo>
                  <a:pt x="0" y="0"/>
                </a:lnTo>
                <a:lnTo>
                  <a:pt x="0" y="450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4400" y="5243067"/>
            <a:ext cx="6426200" cy="45085"/>
          </a:xfrm>
          <a:custGeom>
            <a:avLst/>
            <a:gdLst/>
            <a:ahLst/>
            <a:cxnLst/>
            <a:rect l="l" t="t" r="r" b="b"/>
            <a:pathLst>
              <a:path w="6426200" h="45085">
                <a:moveTo>
                  <a:pt x="0" y="45085"/>
                </a:moveTo>
                <a:lnTo>
                  <a:pt x="6426200" y="45085"/>
                </a:lnTo>
                <a:lnTo>
                  <a:pt x="6426200" y="0"/>
                </a:lnTo>
                <a:lnTo>
                  <a:pt x="0" y="0"/>
                </a:lnTo>
                <a:lnTo>
                  <a:pt x="0" y="45085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9D6B1E-FA9D-E790-8F3F-FBAFBB6E9241}"/>
              </a:ext>
            </a:extLst>
          </p:cNvPr>
          <p:cNvSpPr txBox="1"/>
          <p:nvPr/>
        </p:nvSpPr>
        <p:spPr>
          <a:xfrm>
            <a:off x="1062023" y="4177678"/>
            <a:ext cx="1371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>
                <a:latin typeface="+mj-lt"/>
              </a:rPr>
              <a:t>M.ManojKumar</a:t>
            </a:r>
            <a:r>
              <a:rPr lang="en-IN" sz="800" dirty="0">
                <a:latin typeface="+mj-lt"/>
              </a:rPr>
              <a:t>(192425115)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6AE9ED-50DF-953D-665F-DA10EAE5F9C0}"/>
              </a:ext>
            </a:extLst>
          </p:cNvPr>
          <p:cNvSpPr txBox="1"/>
          <p:nvPr/>
        </p:nvSpPr>
        <p:spPr>
          <a:xfrm>
            <a:off x="1283589" y="5042997"/>
            <a:ext cx="1447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+mj-lt"/>
              </a:rPr>
              <a:t>M. Manoj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09802"/>
            <a:ext cx="5965190" cy="3100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3200" indent="-190500">
              <a:lnSpc>
                <a:spcPts val="1764"/>
              </a:lnSpc>
              <a:spcBef>
                <a:spcPts val="110"/>
              </a:spcBef>
              <a:buAutoNum type="arabicPeriod"/>
              <a:tabLst>
                <a:tab pos="203200" algn="l"/>
              </a:tabLst>
            </a:pPr>
            <a:r>
              <a:rPr sz="1500" b="1" dirty="0">
                <a:latin typeface="Times New Roman"/>
                <a:cs typeface="Times New Roman"/>
              </a:rPr>
              <a:t>Grey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Level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Transformation</a:t>
            </a:r>
            <a:endParaRPr sz="1500">
              <a:latin typeface="Times New Roman"/>
              <a:cs typeface="Times New Roman"/>
            </a:endParaRPr>
          </a:p>
          <a:p>
            <a:pPr marL="12700" marR="981710" lvl="1" indent="270510">
              <a:lnSpc>
                <a:spcPts val="1730"/>
              </a:lnSpc>
              <a:spcBef>
                <a:spcPts val="80"/>
              </a:spcBef>
              <a:buAutoNum type="alphaLcParenBoth"/>
              <a:tabLst>
                <a:tab pos="283210" algn="l"/>
              </a:tabLst>
            </a:pPr>
            <a:r>
              <a:rPr sz="1500" b="1" dirty="0">
                <a:latin typeface="Times New Roman"/>
                <a:cs typeface="Times New Roman"/>
              </a:rPr>
              <a:t>Explain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purpose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 grey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level</a:t>
            </a:r>
            <a:r>
              <a:rPr sz="1500" b="1" spc="-10" dirty="0">
                <a:latin typeface="Times New Roman"/>
                <a:cs typeface="Times New Roman"/>
              </a:rPr>
              <a:t> transformation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in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image enhancement.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96000"/>
              </a:lnSpc>
              <a:spcBef>
                <a:spcPts val="1635"/>
              </a:spcBef>
            </a:pPr>
            <a:r>
              <a:rPr sz="1500" dirty="0">
                <a:latin typeface="Times New Roman"/>
                <a:cs typeface="Times New Roman"/>
              </a:rPr>
              <a:t>Grey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transformation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enhancement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technique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modify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intensity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values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pixels.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improves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visual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quality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</a:t>
            </a:r>
            <a:r>
              <a:rPr sz="1500" spc="-25" dirty="0">
                <a:latin typeface="Times New Roman"/>
                <a:cs typeface="Times New Roman"/>
              </a:rPr>
              <a:t> by </a:t>
            </a:r>
            <a:r>
              <a:rPr sz="1500" dirty="0">
                <a:latin typeface="Times New Roman"/>
                <a:cs typeface="Times New Roman"/>
              </a:rPr>
              <a:t>enhancing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brightness,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contrast,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important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details,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making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image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easier to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793750" lvl="1" indent="273685">
              <a:lnSpc>
                <a:spcPts val="1730"/>
              </a:lnSpc>
              <a:buAutoNum type="alphaLcParenBoth" startAt="2"/>
              <a:tabLst>
                <a:tab pos="286385" algn="l"/>
              </a:tabLst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negative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transformation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s=255-r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to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pixel </a:t>
            </a:r>
            <a:r>
              <a:rPr sz="1500" b="1" spc="-10" dirty="0">
                <a:latin typeface="Times New Roman"/>
                <a:cs typeface="Times New Roman"/>
              </a:rPr>
              <a:t>values: r=[50,100,150,200]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60"/>
              </a:lnSpc>
            </a:pPr>
            <a:r>
              <a:rPr sz="1500" b="1" dirty="0">
                <a:latin typeface="Times New Roman"/>
                <a:cs typeface="Times New Roman"/>
              </a:rPr>
              <a:t>Compute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transformed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values.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500" dirty="0">
                <a:latin typeface="Times New Roman"/>
                <a:cs typeface="Times New Roman"/>
              </a:rPr>
              <a:t>Formula: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255-</a:t>
            </a:r>
            <a:r>
              <a:rPr sz="1500" spc="-50" dirty="0">
                <a:latin typeface="Times New Roman"/>
                <a:cs typeface="Times New Roman"/>
              </a:rPr>
              <a:t>r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4305046"/>
          <a:ext cx="5939155" cy="1127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Original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Transformed(s)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205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155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150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200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55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5627878"/>
            <a:ext cx="5920105" cy="20091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latin typeface="Times New Roman"/>
                <a:cs typeface="Times New Roman"/>
              </a:rPr>
              <a:t>Answer: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205,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155,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105,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55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64"/>
              </a:lnSpc>
              <a:spcBef>
                <a:spcPts val="1655"/>
              </a:spcBef>
            </a:pPr>
            <a:r>
              <a:rPr sz="1500" b="1" dirty="0">
                <a:latin typeface="Times New Roman"/>
                <a:cs typeface="Times New Roman"/>
              </a:rPr>
              <a:t>2.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Log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Transformation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64"/>
              </a:lnSpc>
            </a:pPr>
            <a:r>
              <a:rPr sz="1500" b="1" dirty="0">
                <a:latin typeface="Times New Roman"/>
                <a:cs typeface="Times New Roman"/>
              </a:rPr>
              <a:t>(a)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Explain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how log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transformation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enhances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low-</a:t>
            </a:r>
            <a:r>
              <a:rPr sz="1500" b="1" dirty="0">
                <a:latin typeface="Times New Roman"/>
                <a:cs typeface="Times New Roman"/>
              </a:rPr>
              <a:t>intensity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pixels.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730"/>
              </a:lnSpc>
              <a:spcBef>
                <a:spcPts val="5"/>
              </a:spcBef>
            </a:pPr>
            <a:r>
              <a:rPr sz="1500" dirty="0">
                <a:latin typeface="Times New Roman"/>
                <a:cs typeface="Times New Roman"/>
              </a:rPr>
              <a:t>Log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transformation enhances</a:t>
            </a:r>
            <a:r>
              <a:rPr sz="1500" spc="-20" dirty="0">
                <a:latin typeface="Times New Roman"/>
                <a:cs typeface="Times New Roman"/>
              </a:rPr>
              <a:t> low-</a:t>
            </a:r>
            <a:r>
              <a:rPr sz="1500" dirty="0">
                <a:latin typeface="Times New Roman"/>
                <a:cs typeface="Times New Roman"/>
              </a:rPr>
              <a:t>intensity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(dark)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pixels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increasing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their </a:t>
            </a:r>
            <a:r>
              <a:rPr sz="1500" dirty="0">
                <a:latin typeface="Times New Roman"/>
                <a:cs typeface="Times New Roman"/>
              </a:rPr>
              <a:t>brightness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while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compressing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high-</a:t>
            </a:r>
            <a:r>
              <a:rPr sz="1500" dirty="0">
                <a:latin typeface="Times New Roman"/>
                <a:cs typeface="Times New Roman"/>
              </a:rPr>
              <a:t>intensity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(bright)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pixels.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helps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reveal </a:t>
            </a:r>
            <a:r>
              <a:rPr sz="1500" dirty="0">
                <a:latin typeface="Times New Roman"/>
                <a:cs typeface="Times New Roman"/>
              </a:rPr>
              <a:t>hidden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details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dark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significantly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affecting </a:t>
            </a:r>
            <a:r>
              <a:rPr sz="1500" dirty="0">
                <a:latin typeface="Times New Roman"/>
                <a:cs typeface="Times New Roman"/>
              </a:rPr>
              <a:t>brighter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6713"/>
            <a:ext cx="4058285" cy="9086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25"/>
              </a:spcBef>
            </a:pPr>
            <a:r>
              <a:rPr sz="1500" b="1" dirty="0">
                <a:latin typeface="Times New Roman"/>
                <a:cs typeface="Times New Roman"/>
              </a:rPr>
              <a:t>(b)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Given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s=clog(1+r),</a:t>
            </a:r>
            <a:r>
              <a:rPr sz="1500" b="1" spc="-5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where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c=10,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compute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for: </a:t>
            </a:r>
            <a:r>
              <a:rPr sz="1500" b="1" spc="-10" dirty="0">
                <a:latin typeface="Times New Roman"/>
                <a:cs typeface="Times New Roman"/>
              </a:rPr>
              <a:t>r=[0,10,50,100]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500" dirty="0">
                <a:latin typeface="Times New Roman"/>
                <a:cs typeface="Times New Roman"/>
              </a:rPr>
              <a:t>Formula: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s=10log(1+r)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789810"/>
          <a:ext cx="5939789" cy="1127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Original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(r)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Calculation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Transformed</a:t>
                      </a:r>
                      <a:r>
                        <a:rPr sz="15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log(1)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0.00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log(11)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23.98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log(51)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0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39.32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log(101)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46.15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3112389"/>
            <a:ext cx="5896610" cy="2451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latin typeface="Times New Roman"/>
                <a:cs typeface="Times New Roman"/>
              </a:rPr>
              <a:t>Answer: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0.00,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23.98,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39.32,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46.15</a:t>
            </a:r>
            <a:endParaRPr sz="1500">
              <a:latin typeface="Times New Roman"/>
              <a:cs typeface="Times New Roman"/>
            </a:endParaRPr>
          </a:p>
          <a:p>
            <a:pPr marL="203200" indent="-190500">
              <a:lnSpc>
                <a:spcPts val="1764"/>
              </a:lnSpc>
              <a:spcBef>
                <a:spcPts val="1685"/>
              </a:spcBef>
              <a:buAutoNum type="arabicPeriod" startAt="3"/>
              <a:tabLst>
                <a:tab pos="203200" algn="l"/>
              </a:tabLst>
            </a:pPr>
            <a:r>
              <a:rPr sz="1500" b="1" dirty="0">
                <a:latin typeface="Times New Roman"/>
                <a:cs typeface="Times New Roman"/>
              </a:rPr>
              <a:t>Histogram</a:t>
            </a:r>
            <a:r>
              <a:rPr sz="1500" b="1" spc="-5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Processing</a:t>
            </a:r>
            <a:endParaRPr sz="1500">
              <a:latin typeface="Times New Roman"/>
              <a:cs typeface="Times New Roman"/>
            </a:endParaRPr>
          </a:p>
          <a:p>
            <a:pPr marL="283210" lvl="1" indent="-270510">
              <a:lnSpc>
                <a:spcPts val="1764"/>
              </a:lnSpc>
              <a:buAutoNum type="alphaLcParenBoth"/>
              <a:tabLst>
                <a:tab pos="283210" algn="l"/>
              </a:tabLst>
            </a:pPr>
            <a:r>
              <a:rPr sz="1500" b="1" dirty="0">
                <a:latin typeface="Times New Roman"/>
                <a:cs typeface="Times New Roman"/>
              </a:rPr>
              <a:t>Explain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role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histogram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equalization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in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contrast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enhancement.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96000"/>
              </a:lnSpc>
              <a:spcBef>
                <a:spcPts val="1680"/>
              </a:spcBef>
            </a:pPr>
            <a:r>
              <a:rPr sz="1500" dirty="0">
                <a:latin typeface="Times New Roman"/>
                <a:cs typeface="Times New Roman"/>
              </a:rPr>
              <a:t>Histogram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equalization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improve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contrast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</a:t>
            </a:r>
            <a:r>
              <a:rPr sz="1500" spc="-25" dirty="0">
                <a:latin typeface="Times New Roman"/>
                <a:cs typeface="Times New Roman"/>
              </a:rPr>
              <a:t> by </a:t>
            </a:r>
            <a:r>
              <a:rPr sz="1500" dirty="0">
                <a:latin typeface="Times New Roman"/>
                <a:cs typeface="Times New Roman"/>
              </a:rPr>
              <a:t>redistributing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intensity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values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more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evenly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available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range.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makes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dark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brighter,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bright areas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clearer,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improves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overall </a:t>
            </a:r>
            <a:r>
              <a:rPr sz="1500" dirty="0">
                <a:latin typeface="Times New Roman"/>
                <a:cs typeface="Times New Roman"/>
              </a:rPr>
              <a:t>visibility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</a:t>
            </a:r>
            <a:r>
              <a:rPr sz="1500" spc="-10" dirty="0">
                <a:latin typeface="Times New Roman"/>
                <a:cs typeface="Times New Roman"/>
              </a:rPr>
              <a:t> details.</a:t>
            </a:r>
            <a:endParaRPr sz="1500">
              <a:latin typeface="Times New Roman"/>
              <a:cs typeface="Times New Roman"/>
            </a:endParaRPr>
          </a:p>
          <a:p>
            <a:pPr marL="295275" lvl="1" indent="-282575">
              <a:lnSpc>
                <a:spcPct val="100000"/>
              </a:lnSpc>
              <a:spcBef>
                <a:spcPts val="1680"/>
              </a:spcBef>
              <a:buAutoNum type="alphaLcParenBoth" startAt="2"/>
              <a:tabLst>
                <a:tab pos="295275" algn="l"/>
              </a:tabLst>
            </a:pPr>
            <a:r>
              <a:rPr sz="1500" b="1" dirty="0">
                <a:latin typeface="Times New Roman"/>
                <a:cs typeface="Times New Roman"/>
              </a:rPr>
              <a:t>Given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3-bit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image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with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histogram: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2098" y="5569792"/>
          <a:ext cx="1668779" cy="1159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pPr marL="31750">
                        <a:lnSpc>
                          <a:spcPts val="1645"/>
                        </a:lnSpc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Intensity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645"/>
                        </a:lnSpc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Frequency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31750">
                        <a:lnSpc>
                          <a:spcPts val="173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73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31750">
                        <a:lnSpc>
                          <a:spcPts val="174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74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31750">
                        <a:lnSpc>
                          <a:spcPts val="174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74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90">
                <a:tc>
                  <a:txBody>
                    <a:bodyPr/>
                    <a:lstStyle/>
                    <a:p>
                      <a:pPr marL="317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6716394"/>
            <a:ext cx="5559425" cy="6921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latin typeface="Times New Roman"/>
                <a:cs typeface="Times New Roman"/>
              </a:rPr>
              <a:t>Compute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cumulative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distribution</a:t>
            </a:r>
            <a:r>
              <a:rPr sz="1500" b="1" spc="-7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-5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equalized</a:t>
            </a:r>
            <a:r>
              <a:rPr sz="1500" b="1" spc="-6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intensity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values.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10" dirty="0">
                <a:latin typeface="Times New Roman"/>
                <a:cs typeface="Times New Roman"/>
              </a:rPr>
              <a:t> Histogram: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704" y="7402703"/>
          <a:ext cx="5939155" cy="1127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Intensity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Frequency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0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004" y="8725306"/>
            <a:ext cx="13220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-10" dirty="0">
                <a:latin typeface="Times New Roman"/>
                <a:cs typeface="Times New Roman"/>
              </a:rPr>
              <a:t>Total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Pixels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16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22578"/>
            <a:ext cx="3621404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latin typeface="Times New Roman"/>
                <a:cs typeface="Times New Roman"/>
              </a:rPr>
              <a:t>Cumulative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Distribution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Equalized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Values: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573402"/>
          <a:ext cx="5941059" cy="1343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9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marL="69850">
                        <a:lnSpc>
                          <a:spcPts val="1689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Intensity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9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Frequency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18440">
                        <a:lnSpc>
                          <a:spcPts val="1700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Cumulative Frequency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9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CDF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47980">
                        <a:lnSpc>
                          <a:spcPts val="1700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Equalized Intensity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0.125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0.250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0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0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0.500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1.000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3112389"/>
            <a:ext cx="5458460" cy="33235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latin typeface="Times New Roman"/>
                <a:cs typeface="Times New Roman"/>
              </a:rPr>
              <a:t>Answer: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Equalized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intensity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values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4,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7</a:t>
            </a:r>
            <a:endParaRPr sz="1500">
              <a:latin typeface="Times New Roman"/>
              <a:cs typeface="Times New Roman"/>
            </a:endParaRPr>
          </a:p>
          <a:p>
            <a:pPr marL="203200" indent="-190500">
              <a:lnSpc>
                <a:spcPts val="1764"/>
              </a:lnSpc>
              <a:spcBef>
                <a:spcPts val="1685"/>
              </a:spcBef>
              <a:buAutoNum type="arabicPeriod" startAt="4"/>
              <a:tabLst>
                <a:tab pos="203200" algn="l"/>
              </a:tabLst>
            </a:pPr>
            <a:r>
              <a:rPr sz="1500" b="1" dirty="0">
                <a:latin typeface="Times New Roman"/>
                <a:cs typeface="Times New Roman"/>
              </a:rPr>
              <a:t>Spatial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Filtering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(Smoothing)</a:t>
            </a:r>
            <a:endParaRPr sz="1500">
              <a:latin typeface="Times New Roman"/>
              <a:cs typeface="Times New Roman"/>
            </a:endParaRPr>
          </a:p>
          <a:p>
            <a:pPr marL="283210" lvl="1" indent="-270510">
              <a:lnSpc>
                <a:spcPts val="1764"/>
              </a:lnSpc>
              <a:buAutoNum type="alphaLcParenBoth"/>
              <a:tabLst>
                <a:tab pos="283210" algn="l"/>
              </a:tabLst>
            </a:pPr>
            <a:r>
              <a:rPr sz="1500" b="1" dirty="0">
                <a:latin typeface="Times New Roman"/>
                <a:cs typeface="Times New Roman"/>
              </a:rPr>
              <a:t>Explain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purpose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spatial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filtering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for</a:t>
            </a:r>
            <a:r>
              <a:rPr sz="1500" b="1" spc="-6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smoothing.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96000"/>
              </a:lnSpc>
              <a:spcBef>
                <a:spcPts val="1680"/>
              </a:spcBef>
            </a:pPr>
            <a:r>
              <a:rPr sz="1500" dirty="0">
                <a:latin typeface="Times New Roman"/>
                <a:cs typeface="Times New Roman"/>
              </a:rPr>
              <a:t>Spatial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filtering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smoothing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reduce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noise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unwanted </a:t>
            </a:r>
            <a:r>
              <a:rPr sz="1500" dirty="0">
                <a:latin typeface="Times New Roman"/>
                <a:cs typeface="Times New Roman"/>
              </a:rPr>
              <a:t>variations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image. It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replaces each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pixel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average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its </a:t>
            </a:r>
            <a:r>
              <a:rPr sz="1500" dirty="0">
                <a:latin typeface="Times New Roman"/>
                <a:cs typeface="Times New Roman"/>
              </a:rPr>
              <a:t>neighbouring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pixels,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smoother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while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reducing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small </a:t>
            </a:r>
            <a:r>
              <a:rPr sz="1500" dirty="0">
                <a:latin typeface="Times New Roman"/>
                <a:cs typeface="Times New Roman"/>
              </a:rPr>
              <a:t>intensity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fluctuations.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949960" lvl="1" indent="273685">
              <a:lnSpc>
                <a:spcPts val="1730"/>
              </a:lnSpc>
              <a:buAutoNum type="alphaLcParenBoth" startAt="2"/>
              <a:tabLst>
                <a:tab pos="286385" algn="l"/>
              </a:tabLst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3×3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averaging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filter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to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5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following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region: </a:t>
            </a:r>
            <a:r>
              <a:rPr sz="1500" b="1" dirty="0">
                <a:latin typeface="Times New Roman"/>
                <a:cs typeface="Times New Roman"/>
              </a:rPr>
              <a:t>10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20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30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20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30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40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30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40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50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60"/>
              </a:lnSpc>
            </a:pPr>
            <a:r>
              <a:rPr sz="1500" b="1" dirty="0">
                <a:latin typeface="Times New Roman"/>
                <a:cs typeface="Times New Roman"/>
              </a:rPr>
              <a:t>Compute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new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center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pixel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value.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500" dirty="0">
                <a:latin typeface="Times New Roman"/>
                <a:cs typeface="Times New Roman"/>
              </a:rPr>
              <a:t>Input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Matrix: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6430010"/>
          <a:ext cx="5939789" cy="67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7301610"/>
            <a:ext cx="5440680" cy="915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764"/>
              </a:lnSpc>
              <a:spcBef>
                <a:spcPts val="110"/>
              </a:spcBef>
            </a:pPr>
            <a:r>
              <a:rPr sz="1500" spc="-10" dirty="0">
                <a:latin typeface="Times New Roman"/>
                <a:cs typeface="Times New Roman"/>
              </a:rPr>
              <a:t>Calculation:</a:t>
            </a:r>
            <a:endParaRPr sz="1500">
              <a:latin typeface="Times New Roman"/>
              <a:cs typeface="Times New Roman"/>
            </a:endParaRPr>
          </a:p>
          <a:p>
            <a:pPr marL="1314450">
              <a:lnSpc>
                <a:spcPts val="1730"/>
              </a:lnSpc>
              <a:tabLst>
                <a:tab pos="4408805" algn="l"/>
                <a:tab pos="5083175" algn="l"/>
              </a:tabLst>
            </a:pPr>
            <a:r>
              <a:rPr sz="1500" u="heavy" spc="60" dirty="0">
                <a:uFill>
                  <a:solidFill>
                    <a:srgbClr val="497DBA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500" u="heavy" dirty="0">
                <a:uFill>
                  <a:solidFill>
                    <a:srgbClr val="497DBA"/>
                  </a:solidFill>
                </a:uFill>
                <a:latin typeface="Times New Roman"/>
                <a:cs typeface="Times New Roman"/>
              </a:rPr>
              <a:t>10+20+30+20+30+40+30+40+50</a:t>
            </a:r>
            <a:r>
              <a:rPr sz="1500" u="heavy" spc="260" dirty="0">
                <a:uFill>
                  <a:solidFill>
                    <a:srgbClr val="497DBA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=</a:t>
            </a:r>
            <a:r>
              <a:rPr sz="1500" dirty="0">
                <a:latin typeface="Times New Roman"/>
                <a:cs typeface="Times New Roman"/>
              </a:rPr>
              <a:t>	270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/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9</a:t>
            </a:r>
            <a:r>
              <a:rPr sz="1500" dirty="0">
                <a:latin typeface="Times New Roman"/>
                <a:cs typeface="Times New Roman"/>
              </a:rPr>
              <a:t>	=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30</a:t>
            </a:r>
            <a:endParaRPr sz="1500">
              <a:latin typeface="Times New Roman"/>
              <a:cs typeface="Times New Roman"/>
            </a:endParaRPr>
          </a:p>
          <a:p>
            <a:pPr marL="2680335">
              <a:lnSpc>
                <a:spcPts val="1730"/>
              </a:lnSpc>
            </a:pPr>
            <a:r>
              <a:rPr sz="1500" spc="-50" dirty="0">
                <a:latin typeface="Times New Roman"/>
                <a:cs typeface="Times New Roman"/>
              </a:rPr>
              <a:t>9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64"/>
              </a:lnSpc>
            </a:pPr>
            <a:r>
              <a:rPr sz="1500" dirty="0">
                <a:latin typeface="Times New Roman"/>
                <a:cs typeface="Times New Roman"/>
              </a:rPr>
              <a:t>Answer: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New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centre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pixel value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30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25625"/>
            <a:ext cx="5961380" cy="3100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3200" indent="-190500">
              <a:lnSpc>
                <a:spcPts val="1755"/>
              </a:lnSpc>
              <a:spcBef>
                <a:spcPts val="110"/>
              </a:spcBef>
              <a:buAutoNum type="arabicPeriod" startAt="5"/>
              <a:tabLst>
                <a:tab pos="203200" algn="l"/>
              </a:tabLst>
            </a:pPr>
            <a:r>
              <a:rPr sz="1500" b="1" dirty="0">
                <a:latin typeface="Times New Roman"/>
                <a:cs typeface="Times New Roman"/>
              </a:rPr>
              <a:t>Spatial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Filtering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(Sharpening)</a:t>
            </a:r>
            <a:endParaRPr sz="1500">
              <a:latin typeface="Times New Roman"/>
              <a:cs typeface="Times New Roman"/>
            </a:endParaRPr>
          </a:p>
          <a:p>
            <a:pPr marL="283210" lvl="1" indent="-270510">
              <a:lnSpc>
                <a:spcPts val="1755"/>
              </a:lnSpc>
              <a:buAutoNum type="alphaLcParenBoth"/>
              <a:tabLst>
                <a:tab pos="283210" algn="l"/>
              </a:tabLst>
            </a:pPr>
            <a:r>
              <a:rPr sz="1500" b="1" dirty="0">
                <a:latin typeface="Times New Roman"/>
                <a:cs typeface="Times New Roman"/>
              </a:rPr>
              <a:t>Explain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how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sharpening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enhances</a:t>
            </a:r>
            <a:r>
              <a:rPr sz="1500" b="1" spc="-7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image</a:t>
            </a:r>
            <a:r>
              <a:rPr sz="1500" b="1" spc="-6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details.</a:t>
            </a:r>
            <a:endParaRPr sz="15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Times New Roman"/>
              <a:buAutoNum type="alphaLcParenBoth"/>
            </a:pP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730"/>
              </a:lnSpc>
            </a:pPr>
            <a:r>
              <a:rPr sz="1500" dirty="0">
                <a:latin typeface="Times New Roman"/>
                <a:cs typeface="Times New Roman"/>
              </a:rPr>
              <a:t>Sharpening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improves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quality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enhancing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details.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It </a:t>
            </a:r>
            <a:r>
              <a:rPr sz="1500" dirty="0">
                <a:latin typeface="Times New Roman"/>
                <a:cs typeface="Times New Roman"/>
              </a:rPr>
              <a:t>increases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contrast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between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neighbouring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pixels,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making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boundaries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textures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appear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clearer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distinct.</a:t>
            </a:r>
            <a:endParaRPr sz="1500">
              <a:latin typeface="Times New Roman"/>
              <a:cs typeface="Times New Roman"/>
            </a:endParaRPr>
          </a:p>
          <a:p>
            <a:pPr marL="295275" lvl="1" indent="-282575">
              <a:lnSpc>
                <a:spcPts val="1764"/>
              </a:lnSpc>
              <a:spcBef>
                <a:spcPts val="1630"/>
              </a:spcBef>
              <a:buAutoNum type="alphaLcParenBoth" startAt="2"/>
              <a:tabLst>
                <a:tab pos="295275" algn="l"/>
              </a:tabLst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5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Laplacian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mask: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4"/>
              </a:lnSpc>
              <a:tabLst>
                <a:tab pos="710565" algn="l"/>
                <a:tab pos="1543050" algn="l"/>
                <a:tab pos="2101215" algn="l"/>
                <a:tab pos="2811780" algn="l"/>
              </a:tabLst>
            </a:pPr>
            <a:r>
              <a:rPr sz="1500" b="1" dirty="0">
                <a:latin typeface="Times New Roman"/>
                <a:cs typeface="Times New Roman"/>
              </a:rPr>
              <a:t>[0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-</a:t>
            </a:r>
            <a:r>
              <a:rPr sz="1500" b="1" spc="-50" dirty="0">
                <a:latin typeface="Times New Roman"/>
                <a:cs typeface="Times New Roman"/>
              </a:rPr>
              <a:t>1</a:t>
            </a:r>
            <a:r>
              <a:rPr sz="1500" b="1" dirty="0">
                <a:latin typeface="Times New Roman"/>
                <a:cs typeface="Times New Roman"/>
              </a:rPr>
              <a:t>	0},</a:t>
            </a:r>
            <a:r>
              <a:rPr sz="1500" b="1" spc="1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{-</a:t>
            </a:r>
            <a:r>
              <a:rPr sz="1500" b="1" spc="-50" dirty="0">
                <a:latin typeface="Times New Roman"/>
                <a:cs typeface="Times New Roman"/>
              </a:rPr>
              <a:t>1</a:t>
            </a:r>
            <a:r>
              <a:rPr sz="1500" b="1" dirty="0">
                <a:latin typeface="Times New Roman"/>
                <a:cs typeface="Times New Roman"/>
              </a:rPr>
              <a:t>	4</a:t>
            </a:r>
            <a:r>
              <a:rPr sz="1500" b="1" spc="1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-1],</a:t>
            </a:r>
            <a:r>
              <a:rPr sz="1500" b="1" dirty="0">
                <a:latin typeface="Times New Roman"/>
                <a:cs typeface="Times New Roman"/>
              </a:rPr>
              <a:t>	{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0 -</a:t>
            </a:r>
            <a:r>
              <a:rPr sz="1500" b="1" spc="-50" dirty="0">
                <a:latin typeface="Times New Roman"/>
                <a:cs typeface="Times New Roman"/>
              </a:rPr>
              <a:t>1</a:t>
            </a:r>
            <a:r>
              <a:rPr sz="1500" b="1" dirty="0">
                <a:latin typeface="Times New Roman"/>
                <a:cs typeface="Times New Roman"/>
              </a:rPr>
              <a:t>	0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50" dirty="0">
                <a:latin typeface="Times New Roman"/>
                <a:cs typeface="Times New Roman"/>
              </a:rPr>
              <a:t>]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20"/>
              </a:lnSpc>
            </a:pPr>
            <a:r>
              <a:rPr sz="1500" b="1" dirty="0">
                <a:latin typeface="Times New Roman"/>
                <a:cs typeface="Times New Roman"/>
              </a:rPr>
              <a:t>to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matrix: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30"/>
              </a:lnSpc>
              <a:tabLst>
                <a:tab pos="347980" algn="l"/>
                <a:tab pos="680085" algn="l"/>
                <a:tab pos="1299210" algn="l"/>
                <a:tab pos="1631314" algn="l"/>
                <a:tab pos="2253615" algn="l"/>
                <a:tab pos="2585720" algn="l"/>
              </a:tabLst>
            </a:pPr>
            <a:r>
              <a:rPr sz="1500" b="1" spc="-25" dirty="0">
                <a:latin typeface="Times New Roman"/>
                <a:cs typeface="Times New Roman"/>
              </a:rPr>
              <a:t>10</a:t>
            </a:r>
            <a:r>
              <a:rPr sz="1500" b="1" dirty="0">
                <a:latin typeface="Times New Roman"/>
                <a:cs typeface="Times New Roman"/>
              </a:rPr>
              <a:t>	</a:t>
            </a:r>
            <a:r>
              <a:rPr sz="1500" b="1" spc="-25" dirty="0">
                <a:latin typeface="Times New Roman"/>
                <a:cs typeface="Times New Roman"/>
              </a:rPr>
              <a:t>10</a:t>
            </a:r>
            <a:r>
              <a:rPr sz="1500" b="1" dirty="0">
                <a:latin typeface="Times New Roman"/>
                <a:cs typeface="Times New Roman"/>
              </a:rPr>
              <a:t>	10,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10</a:t>
            </a:r>
            <a:r>
              <a:rPr sz="1500" b="1" dirty="0">
                <a:latin typeface="Times New Roman"/>
                <a:cs typeface="Times New Roman"/>
              </a:rPr>
              <a:t>	</a:t>
            </a:r>
            <a:r>
              <a:rPr sz="1500" b="1" spc="-25" dirty="0">
                <a:latin typeface="Times New Roman"/>
                <a:cs typeface="Times New Roman"/>
              </a:rPr>
              <a:t>20</a:t>
            </a:r>
            <a:r>
              <a:rPr sz="1500" b="1" dirty="0">
                <a:latin typeface="Times New Roman"/>
                <a:cs typeface="Times New Roman"/>
              </a:rPr>
              <a:t>	10,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10</a:t>
            </a:r>
            <a:r>
              <a:rPr sz="1500" b="1" dirty="0">
                <a:latin typeface="Times New Roman"/>
                <a:cs typeface="Times New Roman"/>
              </a:rPr>
              <a:t>	</a:t>
            </a:r>
            <a:r>
              <a:rPr sz="1500" b="1" spc="-25" dirty="0">
                <a:latin typeface="Times New Roman"/>
                <a:cs typeface="Times New Roman"/>
              </a:rPr>
              <a:t>10</a:t>
            </a:r>
            <a:r>
              <a:rPr sz="1500" b="1" dirty="0">
                <a:latin typeface="Times New Roman"/>
                <a:cs typeface="Times New Roman"/>
              </a:rPr>
              <a:t>	</a:t>
            </a:r>
            <a:r>
              <a:rPr sz="1500" b="1" spc="-25" dirty="0">
                <a:latin typeface="Times New Roman"/>
                <a:cs typeface="Times New Roman"/>
              </a:rPr>
              <a:t>10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64"/>
              </a:lnSpc>
            </a:pPr>
            <a:r>
              <a:rPr sz="1500" b="1" dirty="0">
                <a:latin typeface="Times New Roman"/>
                <a:cs typeface="Times New Roman"/>
              </a:rPr>
              <a:t>Compute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output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at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center.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1500" dirty="0">
                <a:latin typeface="Times New Roman"/>
                <a:cs typeface="Times New Roman"/>
              </a:rPr>
              <a:t>Laplacian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Mask: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4420870"/>
          <a:ext cx="5939789" cy="67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5289296"/>
            <a:ext cx="105029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latin typeface="Times New Roman"/>
                <a:cs typeface="Times New Roman"/>
              </a:rPr>
              <a:t>Input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Matrix: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5701284"/>
          <a:ext cx="5939789" cy="67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8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75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6728586"/>
            <a:ext cx="4147820" cy="1015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-10" dirty="0">
                <a:latin typeface="Times New Roman"/>
                <a:cs typeface="Times New Roman"/>
              </a:rPr>
              <a:t>Calculation:</a:t>
            </a:r>
            <a:endParaRPr sz="1500">
              <a:latin typeface="Times New Roman"/>
              <a:cs typeface="Times New Roman"/>
            </a:endParaRPr>
          </a:p>
          <a:p>
            <a:pPr marL="1158875">
              <a:lnSpc>
                <a:spcPct val="100000"/>
              </a:lnSpc>
              <a:spcBef>
                <a:spcPts val="1200"/>
              </a:spcBef>
            </a:pPr>
            <a:r>
              <a:rPr sz="1500" dirty="0">
                <a:latin typeface="Times New Roman"/>
                <a:cs typeface="Times New Roman"/>
              </a:rPr>
              <a:t>(4×20)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-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(10+10+10+10)=80−40</a:t>
            </a:r>
            <a:r>
              <a:rPr sz="1500" spc="3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29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40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500" dirty="0">
                <a:latin typeface="Times New Roman"/>
                <a:cs typeface="Times New Roman"/>
              </a:rPr>
              <a:t>Answer: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Output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centre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pixel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40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927</Words>
  <Application>Microsoft Office PowerPoint</Application>
  <PresentationFormat>Custom</PresentationFormat>
  <Paragraphs>200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carmel belinda</dc:creator>
  <cp:lastModifiedBy>manoj kumar mallavarapu</cp:lastModifiedBy>
  <cp:revision>3</cp:revision>
  <dcterms:created xsi:type="dcterms:W3CDTF">2026-07-27T09:11:07Z</dcterms:created>
  <dcterms:modified xsi:type="dcterms:W3CDTF">2026-07-31T07:44:53Z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2026-07-27T00:00:00Z</vt:filetime>
  </property>
  <property fmtid="{D5CDD505-2E9C-101B-9397-08002B2CF9AE}" pid="6" name="Producer">
    <vt:lpwstr>www.ilovepdf.com</vt:lpwstr>
  </property>
</Properties>
</file>